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54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 flipH="1">
            <a:off x="9418320" y="1005840"/>
            <a:ext cx="274320" cy="914400"/>
          </a:xfrm>
          <a:prstGeom prst="straightConnector1">
            <a:avLst/>
          </a:prstGeom>
          <a:noFill/>
          <a:ln cap="flat" cmpd="sng" w="15875">
            <a:solidFill>
              <a:srgbClr val="3540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9692640" y="1005840"/>
            <a:ext cx="731520" cy="822960"/>
          </a:xfrm>
          <a:prstGeom prst="straightConnector1">
            <a:avLst/>
          </a:prstGeom>
          <a:noFill/>
          <a:ln cap="flat" cmpd="sng" w="15875">
            <a:solidFill>
              <a:srgbClr val="3540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 flipH="1">
            <a:off x="9418320" y="822960"/>
            <a:ext cx="1188720" cy="1097280"/>
          </a:xfrm>
          <a:prstGeom prst="straightConnector1">
            <a:avLst/>
          </a:prstGeom>
          <a:noFill/>
          <a:ln cap="flat" cmpd="sng" w="15875">
            <a:solidFill>
              <a:srgbClr val="3540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 flipH="1">
            <a:off x="10424160" y="822960"/>
            <a:ext cx="182880" cy="1005840"/>
          </a:xfrm>
          <a:prstGeom prst="straightConnector1">
            <a:avLst/>
          </a:prstGeom>
          <a:noFill/>
          <a:ln cap="flat" cmpd="sng" w="15875">
            <a:solidFill>
              <a:srgbClr val="3540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10607040" y="822960"/>
            <a:ext cx="822960" cy="1280160"/>
          </a:xfrm>
          <a:prstGeom prst="straightConnector1">
            <a:avLst/>
          </a:prstGeom>
          <a:noFill/>
          <a:ln cap="flat" cmpd="sng" w="15875">
            <a:solidFill>
              <a:srgbClr val="3540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10424160" y="1280160"/>
            <a:ext cx="914400" cy="548640"/>
          </a:xfrm>
          <a:prstGeom prst="straightConnector1">
            <a:avLst/>
          </a:prstGeom>
          <a:noFill/>
          <a:ln cap="flat" cmpd="sng" w="15875">
            <a:solidFill>
              <a:srgbClr val="3540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11338560" y="1280160"/>
            <a:ext cx="91440" cy="822960"/>
          </a:xfrm>
          <a:prstGeom prst="straightConnector1">
            <a:avLst/>
          </a:prstGeom>
          <a:noFill/>
          <a:ln cap="flat" cmpd="sng" w="15875">
            <a:solidFill>
              <a:srgbClr val="3540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>
            <a:off x="9418320" y="1920240"/>
            <a:ext cx="548640" cy="822960"/>
          </a:xfrm>
          <a:prstGeom prst="straightConnector1">
            <a:avLst/>
          </a:prstGeom>
          <a:noFill/>
          <a:ln cap="flat" cmpd="sng" w="15875">
            <a:solidFill>
              <a:srgbClr val="3540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 flipH="1">
            <a:off x="9966960" y="1828800"/>
            <a:ext cx="457200" cy="914400"/>
          </a:xfrm>
          <a:prstGeom prst="straightConnector1">
            <a:avLst/>
          </a:prstGeom>
          <a:noFill/>
          <a:ln cap="flat" cmpd="sng" w="15875">
            <a:solidFill>
              <a:srgbClr val="3540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10424160" y="1828800"/>
            <a:ext cx="548640" cy="1005840"/>
          </a:xfrm>
          <a:prstGeom prst="straightConnector1">
            <a:avLst/>
          </a:prstGeom>
          <a:noFill/>
          <a:ln cap="flat" cmpd="sng" w="15875">
            <a:solidFill>
              <a:srgbClr val="35406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3"/>
          <p:cNvCxnSpPr/>
          <p:nvPr/>
        </p:nvCxnSpPr>
        <p:spPr>
          <a:xfrm flipH="1">
            <a:off x="10972800" y="2103120"/>
            <a:ext cx="457200" cy="731520"/>
          </a:xfrm>
          <a:prstGeom prst="straightConnector1">
            <a:avLst/>
          </a:prstGeom>
          <a:noFill/>
          <a:ln cap="flat" cmpd="sng" w="15875">
            <a:solidFill>
              <a:srgbClr val="3540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3"/>
          <p:cNvSpPr/>
          <p:nvPr/>
        </p:nvSpPr>
        <p:spPr>
          <a:xfrm>
            <a:off x="9546336" y="859536"/>
            <a:ext cx="292608" cy="292608"/>
          </a:xfrm>
          <a:prstGeom prst="ellipse">
            <a:avLst/>
          </a:prstGeom>
          <a:solidFill>
            <a:srgbClr val="F2C14E"/>
          </a:solidFill>
          <a:ln cap="flat" cmpd="sng" w="19050">
            <a:solidFill>
              <a:srgbClr val="F2C1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10460736" y="676656"/>
            <a:ext cx="292608" cy="292608"/>
          </a:xfrm>
          <a:prstGeom prst="ellipse">
            <a:avLst/>
          </a:prstGeom>
          <a:solidFill>
            <a:srgbClr val="F2C14E"/>
          </a:solidFill>
          <a:ln cap="flat" cmpd="sng" w="19050">
            <a:solidFill>
              <a:srgbClr val="F2C1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1192256" y="1133856"/>
            <a:ext cx="292608" cy="292608"/>
          </a:xfrm>
          <a:prstGeom prst="ellipse">
            <a:avLst/>
          </a:prstGeom>
          <a:solidFill>
            <a:srgbClr val="F2C14E"/>
          </a:solidFill>
          <a:ln cap="flat" cmpd="sng" w="19050">
            <a:solidFill>
              <a:srgbClr val="F2C1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9272016" y="1773936"/>
            <a:ext cx="292608" cy="292608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3F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10277856" y="1682496"/>
            <a:ext cx="292608" cy="292608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3F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11283696" y="1956816"/>
            <a:ext cx="292608" cy="292608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3F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9820656" y="2596896"/>
            <a:ext cx="292608" cy="292608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3F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10826496" y="2688336"/>
            <a:ext cx="292608" cy="292608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3F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640080" y="1920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ENERGY-BASED GENERATIVE MODELS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40080" y="2331720"/>
            <a:ext cx="8503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Deep Belief Networks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&amp; Boltzmann Machines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40080" y="41605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AEB9CC"/>
                </a:solidFill>
                <a:latin typeface="Calibri"/>
                <a:ea typeface="Calibri"/>
                <a:cs typeface="Calibri"/>
                <a:sym typeface="Calibri"/>
              </a:rPr>
              <a:t>Architecture  ·  Energy Functions  ·  Training  ·  Feature Learning  ·  Applications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40080" y="4846320"/>
            <a:ext cx="502920" cy="54864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640075" y="5029200"/>
            <a:ext cx="7220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4A8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8894A8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1700">
                <a:solidFill>
                  <a:srgbClr val="8894A8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endParaRPr sz="1700">
              <a:solidFill>
                <a:srgbClr val="8894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4A8"/>
              </a:buClr>
              <a:buSzPts val="1200"/>
              <a:buFont typeface="Calibri"/>
              <a:buNone/>
            </a:pPr>
            <a:r>
              <a:rPr lang="en-US" sz="1700">
                <a:solidFill>
                  <a:srgbClr val="8894A8"/>
                </a:solidFill>
                <a:latin typeface="Calibri"/>
                <a:ea typeface="Calibri"/>
                <a:cs typeface="Calibri"/>
                <a:sym typeface="Calibri"/>
              </a:rPr>
              <a:t>vemula saiteja</a:t>
            </a:r>
            <a:endParaRPr sz="1700">
              <a:solidFill>
                <a:srgbClr val="8894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1856900" y="442575"/>
            <a:ext cx="7220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</a:rPr>
              <a:t>           </a:t>
            </a:r>
            <a:r>
              <a:rPr lang="en-US" sz="3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SIMATS ENGINEERING</a:t>
            </a:r>
            <a:endParaRPr sz="3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COMMON FOUNDATION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48640" y="6583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54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C2541"/>
                </a:solidFill>
                <a:latin typeface="Cambria"/>
                <a:ea typeface="Cambria"/>
                <a:cs typeface="Cambria"/>
                <a:sym typeface="Cambria"/>
              </a:rPr>
              <a:t>Energy-Based Learning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48640" y="141732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54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C2541"/>
                </a:solidFill>
                <a:latin typeface="Calibri"/>
                <a:ea typeface="Calibri"/>
                <a:cs typeface="Calibri"/>
                <a:sym typeface="Calibri"/>
              </a:rPr>
              <a:t>Both models are stochastic, generative neural networks built from </a:t>
            </a: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visible units (v)</a:t>
            </a:r>
            <a:r>
              <a:rPr b="0" i="0" lang="en-US" sz="1400" u="none" cap="none" strike="noStrike">
                <a:solidFill>
                  <a:srgbClr val="1C2541"/>
                </a:solidFill>
                <a:latin typeface="Calibri"/>
                <a:ea typeface="Calibri"/>
                <a:cs typeface="Calibri"/>
                <a:sym typeface="Calibri"/>
              </a:rPr>
              <a:t> that encode observed data and </a:t>
            </a:r>
            <a:r>
              <a:rPr b="1" i="0" lang="en-US" sz="1400" u="none" cap="none" strike="noStrike">
                <a:solidFill>
                  <a:srgbClr val="B8860B"/>
                </a:solidFill>
                <a:latin typeface="Calibri"/>
                <a:ea typeface="Calibri"/>
                <a:cs typeface="Calibri"/>
                <a:sym typeface="Calibri"/>
              </a:rPr>
              <a:t>hidden units (h)</a:t>
            </a:r>
            <a:r>
              <a:rPr b="0" i="0" lang="en-US" sz="1400" u="none" cap="none" strike="noStrike">
                <a:solidFill>
                  <a:srgbClr val="1C2541"/>
                </a:solidFill>
                <a:latin typeface="Calibri"/>
                <a:ea typeface="Calibri"/>
                <a:cs typeface="Calibri"/>
                <a:sym typeface="Calibri"/>
              </a:rPr>
              <a:t> that capture latent structure.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48640" y="237744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254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C2541"/>
                </a:solidFill>
                <a:latin typeface="Calibri"/>
                <a:ea typeface="Calibri"/>
                <a:cs typeface="Calibri"/>
                <a:sym typeface="Calibri"/>
              </a:rPr>
              <a:t>Every configuration of units is assigned a scalar energy. Learning adjusts weights so that low energy corresponds to plausible, data-like configurations.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48640" y="3429000"/>
            <a:ext cx="5120640" cy="1051560"/>
          </a:xfrm>
          <a:prstGeom prst="roundRect">
            <a:avLst>
              <a:gd fmla="val 6957" name="adj"/>
            </a:avLst>
          </a:prstGeom>
          <a:solidFill>
            <a:srgbClr val="21295C"/>
          </a:solidFill>
          <a:ln>
            <a:noFill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777240" y="356616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3FA7D6"/>
                </a:solidFill>
                <a:latin typeface="Consolas"/>
                <a:ea typeface="Consolas"/>
                <a:cs typeface="Consolas"/>
                <a:sym typeface="Consolas"/>
              </a:rPr>
              <a:t>E(v,h) = −Σ aᵢvᵢ − Σ bⱼhⱼ − Σ vᵢhⱼWᵢⱼ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777240" y="402336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2E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2E0"/>
                </a:solidFill>
                <a:latin typeface="Calibri"/>
                <a:ea typeface="Calibri"/>
                <a:cs typeface="Calibri"/>
                <a:sym typeface="Calibri"/>
              </a:rPr>
              <a:t>Boltzmann energy function — lower energy = higher probability, via P(v,h) ∝ e⁻ᴱ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48640" y="4617720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Probability follows a Boltzmann (Gibbs) distribution: configurations with lower energy are exponentially more likely to occur.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675120" y="1051560"/>
            <a:ext cx="4937760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903720" y="11155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HIDDEN LAYER (h)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903720" y="367588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VISIBLE LAYER (v)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4"/>
          <p:cNvCxnSpPr/>
          <p:nvPr/>
        </p:nvCxnSpPr>
        <p:spPr>
          <a:xfrm flipH="1">
            <a:off x="7178040" y="1691640"/>
            <a:ext cx="32004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4"/>
          <p:cNvCxnSpPr/>
          <p:nvPr/>
        </p:nvCxnSpPr>
        <p:spPr>
          <a:xfrm>
            <a:off x="7498080" y="1691640"/>
            <a:ext cx="36576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4"/>
          <p:cNvCxnSpPr/>
          <p:nvPr/>
        </p:nvCxnSpPr>
        <p:spPr>
          <a:xfrm>
            <a:off x="7498080" y="1691640"/>
            <a:ext cx="105156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4"/>
          <p:cNvCxnSpPr/>
          <p:nvPr/>
        </p:nvCxnSpPr>
        <p:spPr>
          <a:xfrm>
            <a:off x="7498080" y="1691640"/>
            <a:ext cx="173736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4"/>
          <p:cNvCxnSpPr/>
          <p:nvPr/>
        </p:nvCxnSpPr>
        <p:spPr>
          <a:xfrm>
            <a:off x="7498080" y="1691640"/>
            <a:ext cx="242316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4"/>
          <p:cNvCxnSpPr/>
          <p:nvPr/>
        </p:nvCxnSpPr>
        <p:spPr>
          <a:xfrm flipH="1">
            <a:off x="7178040" y="1691640"/>
            <a:ext cx="100584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4"/>
          <p:cNvCxnSpPr/>
          <p:nvPr/>
        </p:nvCxnSpPr>
        <p:spPr>
          <a:xfrm flipH="1">
            <a:off x="7863840" y="1691640"/>
            <a:ext cx="32004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4"/>
          <p:cNvCxnSpPr/>
          <p:nvPr/>
        </p:nvCxnSpPr>
        <p:spPr>
          <a:xfrm>
            <a:off x="8183880" y="1691640"/>
            <a:ext cx="36576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4"/>
          <p:cNvCxnSpPr/>
          <p:nvPr/>
        </p:nvCxnSpPr>
        <p:spPr>
          <a:xfrm>
            <a:off x="8183880" y="1691640"/>
            <a:ext cx="105156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4"/>
          <p:cNvCxnSpPr/>
          <p:nvPr/>
        </p:nvCxnSpPr>
        <p:spPr>
          <a:xfrm>
            <a:off x="8183880" y="1691640"/>
            <a:ext cx="173736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4"/>
          <p:cNvCxnSpPr/>
          <p:nvPr/>
        </p:nvCxnSpPr>
        <p:spPr>
          <a:xfrm flipH="1">
            <a:off x="7178040" y="1691640"/>
            <a:ext cx="169164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4"/>
          <p:cNvCxnSpPr/>
          <p:nvPr/>
        </p:nvCxnSpPr>
        <p:spPr>
          <a:xfrm flipH="1">
            <a:off x="7863840" y="1691640"/>
            <a:ext cx="100584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4"/>
          <p:cNvCxnSpPr/>
          <p:nvPr/>
        </p:nvCxnSpPr>
        <p:spPr>
          <a:xfrm flipH="1">
            <a:off x="8549640" y="1691640"/>
            <a:ext cx="32004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4"/>
          <p:cNvCxnSpPr/>
          <p:nvPr/>
        </p:nvCxnSpPr>
        <p:spPr>
          <a:xfrm>
            <a:off x="8869680" y="1691640"/>
            <a:ext cx="36576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4"/>
          <p:cNvCxnSpPr/>
          <p:nvPr/>
        </p:nvCxnSpPr>
        <p:spPr>
          <a:xfrm>
            <a:off x="8869680" y="1691640"/>
            <a:ext cx="105156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4"/>
          <p:cNvCxnSpPr/>
          <p:nvPr/>
        </p:nvCxnSpPr>
        <p:spPr>
          <a:xfrm flipH="1">
            <a:off x="7178040" y="1691640"/>
            <a:ext cx="237744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4"/>
          <p:cNvCxnSpPr/>
          <p:nvPr/>
        </p:nvCxnSpPr>
        <p:spPr>
          <a:xfrm flipH="1">
            <a:off x="7863840" y="1691640"/>
            <a:ext cx="169164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4"/>
          <p:cNvCxnSpPr/>
          <p:nvPr/>
        </p:nvCxnSpPr>
        <p:spPr>
          <a:xfrm flipH="1">
            <a:off x="8549640" y="1691640"/>
            <a:ext cx="100584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4"/>
          <p:cNvCxnSpPr/>
          <p:nvPr/>
        </p:nvCxnSpPr>
        <p:spPr>
          <a:xfrm flipH="1">
            <a:off x="9235440" y="1691640"/>
            <a:ext cx="32004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4"/>
          <p:cNvCxnSpPr/>
          <p:nvPr/>
        </p:nvCxnSpPr>
        <p:spPr>
          <a:xfrm>
            <a:off x="9555480" y="1691640"/>
            <a:ext cx="365760" cy="1600200"/>
          </a:xfrm>
          <a:prstGeom prst="straightConnector1">
            <a:avLst/>
          </a:prstGeom>
          <a:noFill/>
          <a:ln cap="flat" cmpd="sng" w="9525">
            <a:solidFill>
              <a:srgbClr val="D5D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4"/>
          <p:cNvSpPr/>
          <p:nvPr/>
        </p:nvSpPr>
        <p:spPr>
          <a:xfrm>
            <a:off x="7324344" y="1517904"/>
            <a:ext cx="347472" cy="347472"/>
          </a:xfrm>
          <a:prstGeom prst="ellipse">
            <a:avLst/>
          </a:prstGeom>
          <a:solidFill>
            <a:srgbClr val="F2C14E"/>
          </a:solidFill>
          <a:ln cap="flat" cmpd="sng" w="1905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8010144" y="1517904"/>
            <a:ext cx="347472" cy="347472"/>
          </a:xfrm>
          <a:prstGeom prst="ellipse">
            <a:avLst/>
          </a:prstGeom>
          <a:solidFill>
            <a:srgbClr val="F2C14E"/>
          </a:solidFill>
          <a:ln cap="flat" cmpd="sng" w="1905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8695944" y="1517904"/>
            <a:ext cx="347472" cy="347472"/>
          </a:xfrm>
          <a:prstGeom prst="ellipse">
            <a:avLst/>
          </a:prstGeom>
          <a:solidFill>
            <a:srgbClr val="F2C14E"/>
          </a:solidFill>
          <a:ln cap="flat" cmpd="sng" w="1905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9381744" y="1517904"/>
            <a:ext cx="347472" cy="347472"/>
          </a:xfrm>
          <a:prstGeom prst="ellipse">
            <a:avLst/>
          </a:prstGeom>
          <a:solidFill>
            <a:srgbClr val="F2C14E"/>
          </a:solidFill>
          <a:ln cap="flat" cmpd="sng" w="1905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7004304" y="3118104"/>
            <a:ext cx="347472" cy="347472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7690104" y="3118104"/>
            <a:ext cx="347472" cy="347472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8375904" y="3118104"/>
            <a:ext cx="347472" cy="347472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9061704" y="3118104"/>
            <a:ext cx="347472" cy="347472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9747504" y="3118104"/>
            <a:ext cx="347472" cy="347472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6903720" y="525780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Weighted connections (W) determine each unit's contribution to overall energy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C0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C0C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54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ARCHITECTURE  ·  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48640" y="658368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Boltzmann Machine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5"/>
          <p:cNvCxnSpPr/>
          <p:nvPr/>
        </p:nvCxnSpPr>
        <p:spPr>
          <a:xfrm flipH="1" rot="10800000">
            <a:off x="8503920" y="1051560"/>
            <a:ext cx="1188720" cy="22860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5"/>
          <p:cNvCxnSpPr/>
          <p:nvPr/>
        </p:nvCxnSpPr>
        <p:spPr>
          <a:xfrm>
            <a:off x="8503920" y="1280160"/>
            <a:ext cx="2377440" cy="9144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5"/>
          <p:cNvCxnSpPr/>
          <p:nvPr/>
        </p:nvCxnSpPr>
        <p:spPr>
          <a:xfrm flipH="1">
            <a:off x="7955280" y="1280160"/>
            <a:ext cx="548640" cy="118872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5"/>
          <p:cNvCxnSpPr/>
          <p:nvPr/>
        </p:nvCxnSpPr>
        <p:spPr>
          <a:xfrm>
            <a:off x="8503920" y="1280160"/>
            <a:ext cx="548640" cy="100584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5"/>
          <p:cNvCxnSpPr/>
          <p:nvPr/>
        </p:nvCxnSpPr>
        <p:spPr>
          <a:xfrm>
            <a:off x="8503920" y="1280160"/>
            <a:ext cx="1645920" cy="109728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5"/>
          <p:cNvCxnSpPr/>
          <p:nvPr/>
        </p:nvCxnSpPr>
        <p:spPr>
          <a:xfrm>
            <a:off x="8503920" y="1280160"/>
            <a:ext cx="2743200" cy="132588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5"/>
          <p:cNvCxnSpPr/>
          <p:nvPr/>
        </p:nvCxnSpPr>
        <p:spPr>
          <a:xfrm>
            <a:off x="9692640" y="1051560"/>
            <a:ext cx="1188720" cy="32004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5"/>
          <p:cNvCxnSpPr/>
          <p:nvPr/>
        </p:nvCxnSpPr>
        <p:spPr>
          <a:xfrm flipH="1">
            <a:off x="7955280" y="1051560"/>
            <a:ext cx="1737360" cy="141732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5"/>
          <p:cNvCxnSpPr/>
          <p:nvPr/>
        </p:nvCxnSpPr>
        <p:spPr>
          <a:xfrm flipH="1">
            <a:off x="9052560" y="1051560"/>
            <a:ext cx="640080" cy="123444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5"/>
          <p:cNvCxnSpPr/>
          <p:nvPr/>
        </p:nvCxnSpPr>
        <p:spPr>
          <a:xfrm>
            <a:off x="9692640" y="1051560"/>
            <a:ext cx="457200" cy="132588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5"/>
          <p:cNvCxnSpPr/>
          <p:nvPr/>
        </p:nvCxnSpPr>
        <p:spPr>
          <a:xfrm>
            <a:off x="9692640" y="1051560"/>
            <a:ext cx="1554480" cy="155448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5"/>
          <p:cNvCxnSpPr/>
          <p:nvPr/>
        </p:nvCxnSpPr>
        <p:spPr>
          <a:xfrm flipH="1">
            <a:off x="7955280" y="1371600"/>
            <a:ext cx="2926080" cy="109728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5"/>
          <p:cNvCxnSpPr/>
          <p:nvPr/>
        </p:nvCxnSpPr>
        <p:spPr>
          <a:xfrm flipH="1">
            <a:off x="9052560" y="1371600"/>
            <a:ext cx="1828800" cy="91440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5"/>
          <p:cNvCxnSpPr/>
          <p:nvPr/>
        </p:nvCxnSpPr>
        <p:spPr>
          <a:xfrm flipH="1">
            <a:off x="10149840" y="1371600"/>
            <a:ext cx="731520" cy="100584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5"/>
          <p:cNvCxnSpPr/>
          <p:nvPr/>
        </p:nvCxnSpPr>
        <p:spPr>
          <a:xfrm>
            <a:off x="10881360" y="1371600"/>
            <a:ext cx="365760" cy="123444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5"/>
          <p:cNvCxnSpPr/>
          <p:nvPr/>
        </p:nvCxnSpPr>
        <p:spPr>
          <a:xfrm flipH="1" rot="10800000">
            <a:off x="7955280" y="2286000"/>
            <a:ext cx="1097280" cy="18288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5"/>
          <p:cNvCxnSpPr/>
          <p:nvPr/>
        </p:nvCxnSpPr>
        <p:spPr>
          <a:xfrm flipH="1" rot="10800000">
            <a:off x="7955280" y="2377440"/>
            <a:ext cx="2194560" cy="9144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5"/>
          <p:cNvCxnSpPr/>
          <p:nvPr/>
        </p:nvCxnSpPr>
        <p:spPr>
          <a:xfrm>
            <a:off x="7955280" y="2468880"/>
            <a:ext cx="3291840" cy="13716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5"/>
          <p:cNvCxnSpPr/>
          <p:nvPr/>
        </p:nvCxnSpPr>
        <p:spPr>
          <a:xfrm>
            <a:off x="9052560" y="2286000"/>
            <a:ext cx="1097280" cy="9144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5"/>
          <p:cNvCxnSpPr/>
          <p:nvPr/>
        </p:nvCxnSpPr>
        <p:spPr>
          <a:xfrm>
            <a:off x="9052560" y="2286000"/>
            <a:ext cx="2194560" cy="32004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5"/>
          <p:cNvCxnSpPr/>
          <p:nvPr/>
        </p:nvCxnSpPr>
        <p:spPr>
          <a:xfrm>
            <a:off x="10149840" y="2377440"/>
            <a:ext cx="1097280" cy="228600"/>
          </a:xfrm>
          <a:prstGeom prst="straightConnector1">
            <a:avLst/>
          </a:prstGeom>
          <a:noFill/>
          <a:ln cap="flat" cmpd="sng" w="11425">
            <a:solidFill>
              <a:srgbClr val="39456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5"/>
          <p:cNvSpPr/>
          <p:nvPr/>
        </p:nvSpPr>
        <p:spPr>
          <a:xfrm>
            <a:off x="8330184" y="1106424"/>
            <a:ext cx="347472" cy="347472"/>
          </a:xfrm>
          <a:prstGeom prst="ellipse">
            <a:avLst/>
          </a:prstGeom>
          <a:solidFill>
            <a:srgbClr val="F2C14E"/>
          </a:solidFill>
          <a:ln cap="flat" cmpd="sng" w="1905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9518904" y="877824"/>
            <a:ext cx="347472" cy="347472"/>
          </a:xfrm>
          <a:prstGeom prst="ellipse">
            <a:avLst/>
          </a:prstGeom>
          <a:solidFill>
            <a:srgbClr val="F2C14E"/>
          </a:solidFill>
          <a:ln cap="flat" cmpd="sng" w="1905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0707624" y="1197864"/>
            <a:ext cx="347472" cy="347472"/>
          </a:xfrm>
          <a:prstGeom prst="ellipse">
            <a:avLst/>
          </a:prstGeom>
          <a:solidFill>
            <a:srgbClr val="F2C14E"/>
          </a:solidFill>
          <a:ln cap="flat" cmpd="sng" w="1905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7781544" y="2295144"/>
            <a:ext cx="347472" cy="347472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8878824" y="2112264"/>
            <a:ext cx="347472" cy="347472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9976104" y="2203704"/>
            <a:ext cx="347472" cy="347472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11073384" y="2432304"/>
            <a:ext cx="347472" cy="347472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7772400" y="306324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EB9C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EB9CC"/>
                </a:solidFill>
                <a:latin typeface="Calibri"/>
                <a:ea typeface="Calibri"/>
                <a:cs typeface="Calibri"/>
                <a:sym typeface="Calibri"/>
              </a:rPr>
              <a:t>Fully-connected, undirected graph — every unit connects to every other unit,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EB9C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EB9CC"/>
                </a:solidFill>
                <a:latin typeface="Calibri"/>
                <a:ea typeface="Calibri"/>
                <a:cs typeface="Calibri"/>
                <a:sym typeface="Calibri"/>
              </a:rPr>
              <a:t>including within the same layer.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48640" y="1417320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777240" y="13258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Undirected &amp; symmetric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777240" y="1664208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EB9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C"/>
                </a:solidFill>
                <a:latin typeface="Calibri"/>
                <a:ea typeface="Calibri"/>
                <a:cs typeface="Calibri"/>
                <a:sym typeface="Calibri"/>
              </a:rPr>
              <a:t>Connections have no direction; weight Wᵢⱼ = Wⱼᵢ links every pair of units, visible-visible, hidden-hidden, and visible-hidden.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48640" y="2560320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777240" y="24688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Stochastic binary units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777240" y="2807208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EB9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C"/>
                </a:solidFill>
                <a:latin typeface="Calibri"/>
                <a:ea typeface="Calibri"/>
                <a:cs typeface="Calibri"/>
                <a:sym typeface="Calibri"/>
              </a:rPr>
              <a:t>Each unit activates probabilistically based on the energy contribution of its neighbors, not a fixed threshold.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48640" y="3703320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777240" y="36118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energy landscape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777240" y="3950208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EB9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9CC"/>
                </a:solidFill>
                <a:latin typeface="Calibri"/>
                <a:ea typeface="Calibri"/>
                <a:cs typeface="Calibri"/>
                <a:sym typeface="Calibri"/>
              </a:rPr>
              <a:t>The network settles toward low-energy, high-probability states that resemble the training data.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48640" y="4892040"/>
            <a:ext cx="5029200" cy="777240"/>
          </a:xfrm>
          <a:prstGeom prst="roundRect">
            <a:avLst>
              <a:gd fmla="val 9412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777240" y="5010912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b="0" i="0" lang="en-US" sz="1150" u="none" cap="none" strike="noStrike">
                <a:solidFill>
                  <a:srgbClr val="D6DCE8"/>
                </a:solidFill>
                <a:latin typeface="Calibri"/>
                <a:ea typeface="Calibri"/>
                <a:cs typeface="Calibri"/>
                <a:sym typeface="Calibri"/>
              </a:rPr>
              <a:t>Dense connectivity makes exact inference and training computationally intractable for anything beyond tiny networks.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4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4A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ARCHITECTURE  ·  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48640" y="658368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54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C2541"/>
                </a:solidFill>
                <a:latin typeface="Cambria"/>
                <a:ea typeface="Cambria"/>
                <a:cs typeface="Cambria"/>
                <a:sym typeface="Cambria"/>
              </a:rPr>
              <a:t>The Deep Belief Network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 flipH="1" rot="10800000">
            <a:off x="6355080" y="3246120"/>
            <a:ext cx="38862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6"/>
          <p:cNvCxnSpPr/>
          <p:nvPr/>
        </p:nvCxnSpPr>
        <p:spPr>
          <a:xfrm flipH="1" rot="10800000">
            <a:off x="6355080" y="3246120"/>
            <a:ext cx="116586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6"/>
          <p:cNvCxnSpPr/>
          <p:nvPr/>
        </p:nvCxnSpPr>
        <p:spPr>
          <a:xfrm flipH="1" rot="10800000">
            <a:off x="6355080" y="3246120"/>
            <a:ext cx="194310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6"/>
          <p:cNvCxnSpPr/>
          <p:nvPr/>
        </p:nvCxnSpPr>
        <p:spPr>
          <a:xfrm flipH="1" rot="10800000">
            <a:off x="6355080" y="3246120"/>
            <a:ext cx="272034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6"/>
          <p:cNvCxnSpPr/>
          <p:nvPr/>
        </p:nvCxnSpPr>
        <p:spPr>
          <a:xfrm rot="10800000">
            <a:off x="6743700" y="3246120"/>
            <a:ext cx="38862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6"/>
          <p:cNvCxnSpPr/>
          <p:nvPr/>
        </p:nvCxnSpPr>
        <p:spPr>
          <a:xfrm flipH="1" rot="10800000">
            <a:off x="7132320" y="3246120"/>
            <a:ext cx="38862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6"/>
          <p:cNvCxnSpPr/>
          <p:nvPr/>
        </p:nvCxnSpPr>
        <p:spPr>
          <a:xfrm flipH="1" rot="10800000">
            <a:off x="7132320" y="3246120"/>
            <a:ext cx="116586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6"/>
          <p:cNvCxnSpPr/>
          <p:nvPr/>
        </p:nvCxnSpPr>
        <p:spPr>
          <a:xfrm flipH="1" rot="10800000">
            <a:off x="7132320" y="3246120"/>
            <a:ext cx="194310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6"/>
          <p:cNvCxnSpPr/>
          <p:nvPr/>
        </p:nvCxnSpPr>
        <p:spPr>
          <a:xfrm rot="10800000">
            <a:off x="6743700" y="3246120"/>
            <a:ext cx="116586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6"/>
          <p:cNvCxnSpPr/>
          <p:nvPr/>
        </p:nvCxnSpPr>
        <p:spPr>
          <a:xfrm rot="10800000">
            <a:off x="7520940" y="3246120"/>
            <a:ext cx="38862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6"/>
          <p:cNvCxnSpPr/>
          <p:nvPr/>
        </p:nvCxnSpPr>
        <p:spPr>
          <a:xfrm flipH="1" rot="10800000">
            <a:off x="7909560" y="3246120"/>
            <a:ext cx="38862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6"/>
          <p:cNvCxnSpPr/>
          <p:nvPr/>
        </p:nvCxnSpPr>
        <p:spPr>
          <a:xfrm flipH="1" rot="10800000">
            <a:off x="7909560" y="3246120"/>
            <a:ext cx="116586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6"/>
          <p:cNvCxnSpPr/>
          <p:nvPr/>
        </p:nvCxnSpPr>
        <p:spPr>
          <a:xfrm rot="10800000">
            <a:off x="6743700" y="3246120"/>
            <a:ext cx="194310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6"/>
          <p:cNvCxnSpPr/>
          <p:nvPr/>
        </p:nvCxnSpPr>
        <p:spPr>
          <a:xfrm rot="10800000">
            <a:off x="7520940" y="3246120"/>
            <a:ext cx="116586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6"/>
          <p:cNvCxnSpPr/>
          <p:nvPr/>
        </p:nvCxnSpPr>
        <p:spPr>
          <a:xfrm rot="10800000">
            <a:off x="8298180" y="3246120"/>
            <a:ext cx="38862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6"/>
          <p:cNvCxnSpPr/>
          <p:nvPr/>
        </p:nvCxnSpPr>
        <p:spPr>
          <a:xfrm flipH="1" rot="10800000">
            <a:off x="8686800" y="3246120"/>
            <a:ext cx="38862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6"/>
          <p:cNvCxnSpPr/>
          <p:nvPr/>
        </p:nvCxnSpPr>
        <p:spPr>
          <a:xfrm rot="10800000">
            <a:off x="6743700" y="3246120"/>
            <a:ext cx="272034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6"/>
          <p:cNvCxnSpPr/>
          <p:nvPr/>
        </p:nvCxnSpPr>
        <p:spPr>
          <a:xfrm rot="10800000">
            <a:off x="7520940" y="3246120"/>
            <a:ext cx="194310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6"/>
          <p:cNvCxnSpPr/>
          <p:nvPr/>
        </p:nvCxnSpPr>
        <p:spPr>
          <a:xfrm rot="10800000">
            <a:off x="8298180" y="3246120"/>
            <a:ext cx="116586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6"/>
          <p:cNvCxnSpPr/>
          <p:nvPr/>
        </p:nvCxnSpPr>
        <p:spPr>
          <a:xfrm rot="10800000">
            <a:off x="9075420" y="3246120"/>
            <a:ext cx="388620" cy="1325880"/>
          </a:xfrm>
          <a:prstGeom prst="straightConnector1">
            <a:avLst/>
          </a:prstGeom>
          <a:noFill/>
          <a:ln cap="flat" cmpd="sng" w="10775">
            <a:solidFill>
              <a:srgbClr val="CBD5E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6"/>
          <p:cNvCxnSpPr/>
          <p:nvPr/>
        </p:nvCxnSpPr>
        <p:spPr>
          <a:xfrm flipH="1" rot="10800000">
            <a:off x="6743700" y="1920240"/>
            <a:ext cx="388620" cy="13258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6"/>
          <p:cNvCxnSpPr/>
          <p:nvPr/>
        </p:nvCxnSpPr>
        <p:spPr>
          <a:xfrm flipH="1" rot="10800000">
            <a:off x="6743700" y="1920240"/>
            <a:ext cx="1165860" cy="13258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6"/>
          <p:cNvCxnSpPr/>
          <p:nvPr/>
        </p:nvCxnSpPr>
        <p:spPr>
          <a:xfrm flipH="1" rot="10800000">
            <a:off x="6743700" y="1920240"/>
            <a:ext cx="1943100" cy="13258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6"/>
          <p:cNvCxnSpPr/>
          <p:nvPr/>
        </p:nvCxnSpPr>
        <p:spPr>
          <a:xfrm rot="10800000">
            <a:off x="7132320" y="1920240"/>
            <a:ext cx="388620" cy="13258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6"/>
          <p:cNvCxnSpPr/>
          <p:nvPr/>
        </p:nvCxnSpPr>
        <p:spPr>
          <a:xfrm flipH="1" rot="10800000">
            <a:off x="7520940" y="1920240"/>
            <a:ext cx="388620" cy="13258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6"/>
          <p:cNvCxnSpPr/>
          <p:nvPr/>
        </p:nvCxnSpPr>
        <p:spPr>
          <a:xfrm flipH="1" rot="10800000">
            <a:off x="7520940" y="1920240"/>
            <a:ext cx="1165860" cy="13258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6"/>
          <p:cNvCxnSpPr/>
          <p:nvPr/>
        </p:nvCxnSpPr>
        <p:spPr>
          <a:xfrm rot="10800000">
            <a:off x="7132320" y="1920240"/>
            <a:ext cx="1165860" cy="13258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6"/>
          <p:cNvCxnSpPr/>
          <p:nvPr/>
        </p:nvCxnSpPr>
        <p:spPr>
          <a:xfrm rot="10800000">
            <a:off x="7909560" y="1920240"/>
            <a:ext cx="388620" cy="13258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6"/>
          <p:cNvCxnSpPr/>
          <p:nvPr/>
        </p:nvCxnSpPr>
        <p:spPr>
          <a:xfrm flipH="1" rot="10800000">
            <a:off x="8298180" y="1920240"/>
            <a:ext cx="388620" cy="13258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6"/>
          <p:cNvCxnSpPr/>
          <p:nvPr/>
        </p:nvCxnSpPr>
        <p:spPr>
          <a:xfrm rot="10800000">
            <a:off x="7132320" y="1920240"/>
            <a:ext cx="1943100" cy="13258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6"/>
          <p:cNvCxnSpPr/>
          <p:nvPr/>
        </p:nvCxnSpPr>
        <p:spPr>
          <a:xfrm rot="10800000">
            <a:off x="7909560" y="1920240"/>
            <a:ext cx="1165860" cy="13258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6"/>
          <p:cNvCxnSpPr/>
          <p:nvPr/>
        </p:nvCxnSpPr>
        <p:spPr>
          <a:xfrm rot="10800000">
            <a:off x="8686800" y="1920240"/>
            <a:ext cx="388620" cy="13258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6"/>
          <p:cNvCxnSpPr/>
          <p:nvPr/>
        </p:nvCxnSpPr>
        <p:spPr>
          <a:xfrm flipH="1" rot="10800000">
            <a:off x="7132320" y="822960"/>
            <a:ext cx="388620" cy="10972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6"/>
          <p:cNvCxnSpPr/>
          <p:nvPr/>
        </p:nvCxnSpPr>
        <p:spPr>
          <a:xfrm flipH="1" rot="10800000">
            <a:off x="7132320" y="822960"/>
            <a:ext cx="1165860" cy="10972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 rot="10800000">
            <a:off x="7520940" y="822960"/>
            <a:ext cx="388620" cy="10972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 flipH="1" rot="10800000">
            <a:off x="7909560" y="822960"/>
            <a:ext cx="388620" cy="10972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6"/>
          <p:cNvCxnSpPr/>
          <p:nvPr/>
        </p:nvCxnSpPr>
        <p:spPr>
          <a:xfrm rot="10800000">
            <a:off x="7520940" y="822960"/>
            <a:ext cx="1165860" cy="10972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6"/>
          <p:cNvCxnSpPr/>
          <p:nvPr/>
        </p:nvCxnSpPr>
        <p:spPr>
          <a:xfrm rot="10800000">
            <a:off x="8298180" y="822960"/>
            <a:ext cx="388620" cy="1097280"/>
          </a:xfrm>
          <a:prstGeom prst="straightConnector1">
            <a:avLst/>
          </a:prstGeom>
          <a:noFill/>
          <a:ln cap="flat" cmpd="sng" w="10775">
            <a:solidFill>
              <a:srgbClr val="B9C7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6199632" y="4416552"/>
            <a:ext cx="310896" cy="310896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6976872" y="4416552"/>
            <a:ext cx="310896" cy="310896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7754112" y="4416552"/>
            <a:ext cx="310896" cy="310896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8531352" y="4416552"/>
            <a:ext cx="310896" cy="310896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9308592" y="4416552"/>
            <a:ext cx="310896" cy="310896"/>
          </a:xfrm>
          <a:prstGeom prst="ellipse">
            <a:avLst/>
          </a:prstGeom>
          <a:solidFill>
            <a:srgbClr val="3FA7D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9601200" y="442569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Visible layer  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588252" y="3090672"/>
            <a:ext cx="310896" cy="310896"/>
          </a:xfrm>
          <a:prstGeom prst="ellipse">
            <a:avLst/>
          </a:prstGeom>
          <a:solidFill>
            <a:srgbClr val="6FA8C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7365492" y="3090672"/>
            <a:ext cx="310896" cy="310896"/>
          </a:xfrm>
          <a:prstGeom prst="ellipse">
            <a:avLst/>
          </a:prstGeom>
          <a:solidFill>
            <a:srgbClr val="6FA8C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8142732" y="3090672"/>
            <a:ext cx="310896" cy="310896"/>
          </a:xfrm>
          <a:prstGeom prst="ellipse">
            <a:avLst/>
          </a:prstGeom>
          <a:solidFill>
            <a:srgbClr val="6FA8C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8919972" y="3090672"/>
            <a:ext cx="310896" cy="310896"/>
          </a:xfrm>
          <a:prstGeom prst="ellipse">
            <a:avLst/>
          </a:prstGeom>
          <a:solidFill>
            <a:srgbClr val="6FA8C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9601200" y="309981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Hidden layer  h¹  (RBM 1)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6976872" y="1764792"/>
            <a:ext cx="310896" cy="310896"/>
          </a:xfrm>
          <a:prstGeom prst="ellipse">
            <a:avLst/>
          </a:prstGeom>
          <a:solidFill>
            <a:srgbClr val="1C72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7754112" y="1764792"/>
            <a:ext cx="310896" cy="310896"/>
          </a:xfrm>
          <a:prstGeom prst="ellipse">
            <a:avLst/>
          </a:prstGeom>
          <a:solidFill>
            <a:srgbClr val="1C72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8531352" y="1764792"/>
            <a:ext cx="310896" cy="310896"/>
          </a:xfrm>
          <a:prstGeom prst="ellipse">
            <a:avLst/>
          </a:prstGeom>
          <a:solidFill>
            <a:srgbClr val="1C72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9601200" y="177393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Hidden layer  h²  (RBM 2)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7365492" y="667512"/>
            <a:ext cx="310896" cy="310896"/>
          </a:xfrm>
          <a:prstGeom prst="ellipse">
            <a:avLst/>
          </a:prstGeom>
          <a:solidFill>
            <a:srgbClr val="F2C14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8142732" y="667512"/>
            <a:ext cx="310896" cy="310896"/>
          </a:xfrm>
          <a:prstGeom prst="ellipse">
            <a:avLst/>
          </a:prstGeom>
          <a:solidFill>
            <a:srgbClr val="F2C14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9601200" y="67665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Top layer  h³ (associative)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675120" y="52578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Directed, generative connections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(top-down) between lower layers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548640" y="1417320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777240" y="132588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54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2541"/>
                </a:solidFill>
                <a:latin typeface="Calibri"/>
                <a:ea typeface="Calibri"/>
                <a:cs typeface="Calibri"/>
                <a:sym typeface="Calibri"/>
              </a:rPr>
              <a:t>Stack of RBMs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777240" y="1664208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Multiple Restricted Boltzmann Machines are stacked; each layer's hidden output becomes the next layer's visible input.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48640" y="2560320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777240" y="246888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54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2541"/>
                </a:solidFill>
                <a:latin typeface="Calibri"/>
                <a:ea typeface="Calibri"/>
                <a:cs typeface="Calibri"/>
                <a:sym typeface="Calibri"/>
              </a:rPr>
              <a:t>Restricted connectivity per 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777240" y="2807208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Within each RBM, connections exist only between visible and hidden units — no intra-layer links, unlike a full Boltzmann Machine.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48640" y="3703320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777240" y="361188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54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2541"/>
                </a:solidFill>
                <a:latin typeface="Calibri"/>
                <a:ea typeface="Calibri"/>
                <a:cs typeface="Calibri"/>
                <a:sym typeface="Calibri"/>
              </a:rPr>
              <a:t>Hybrid directed/undirected graph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777240" y="3950208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The top two layers form an undirected associative memory; lower layers use directed, generative connections.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C0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C0C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54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HOW THEY LEARN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548640" y="658368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Training Process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48640" y="1554480"/>
            <a:ext cx="5349240" cy="4663440"/>
          </a:xfrm>
          <a:prstGeom prst="roundRect">
            <a:avLst>
              <a:gd fmla="val 1961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BOLTZMANN MACHINE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68680" y="2331720"/>
            <a:ext cx="292608" cy="292608"/>
          </a:xfrm>
          <a:prstGeom prst="ellipse">
            <a:avLst/>
          </a:prstGeom>
          <a:solidFill>
            <a:srgbClr val="2E3A66"/>
          </a:solidFill>
          <a:ln cap="flat" cmpd="sng" w="12700">
            <a:solidFill>
              <a:srgbClr val="F2C1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868680" y="23317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1298448" y="2304288"/>
            <a:ext cx="4343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D6DCE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DCE8"/>
                </a:solidFill>
                <a:latin typeface="Calibri"/>
                <a:ea typeface="Calibri"/>
                <a:cs typeface="Calibri"/>
                <a:sym typeface="Calibri"/>
              </a:rPr>
              <a:t>Run Gibbs sampling across the entire fully-connected network to reach thermal equilibrium.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68680" y="3246120"/>
            <a:ext cx="292608" cy="292608"/>
          </a:xfrm>
          <a:prstGeom prst="ellipse">
            <a:avLst/>
          </a:prstGeom>
          <a:solidFill>
            <a:srgbClr val="2E3A66"/>
          </a:solidFill>
          <a:ln cap="flat" cmpd="sng" w="12700">
            <a:solidFill>
              <a:srgbClr val="F2C1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868680" y="32461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1298448" y="3218688"/>
            <a:ext cx="4343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D6DCE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DCE8"/>
                </a:solidFill>
                <a:latin typeface="Calibri"/>
                <a:ea typeface="Calibri"/>
                <a:cs typeface="Calibri"/>
                <a:sym typeface="Calibri"/>
              </a:rPr>
              <a:t>Compute correlations between units in the data phase (“clamped”) vs. the model phase (“free-running”).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868680" y="4160520"/>
            <a:ext cx="292608" cy="292608"/>
          </a:xfrm>
          <a:prstGeom prst="ellipse">
            <a:avLst/>
          </a:prstGeom>
          <a:solidFill>
            <a:srgbClr val="2E3A66"/>
          </a:solidFill>
          <a:ln cap="flat" cmpd="sng" w="12700">
            <a:solidFill>
              <a:srgbClr val="F2C1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868680" y="41605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1298448" y="4133088"/>
            <a:ext cx="4343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D6DCE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DCE8"/>
                </a:solidFill>
                <a:latin typeface="Calibri"/>
                <a:ea typeface="Calibri"/>
                <a:cs typeface="Calibri"/>
                <a:sym typeface="Calibri"/>
              </a:rPr>
              <a:t>Update each weight proportional to the difference between these two correlation statistics.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868680" y="5074920"/>
            <a:ext cx="292608" cy="292608"/>
          </a:xfrm>
          <a:prstGeom prst="ellipse">
            <a:avLst/>
          </a:prstGeom>
          <a:solidFill>
            <a:srgbClr val="2E3A66"/>
          </a:solidFill>
          <a:ln cap="flat" cmpd="sng" w="12700">
            <a:solidFill>
              <a:srgbClr val="F2C1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868680" y="50749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1298448" y="5047488"/>
            <a:ext cx="4343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D6DCE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DCE8"/>
                </a:solidFill>
                <a:latin typeface="Calibri"/>
                <a:ea typeface="Calibri"/>
                <a:cs typeface="Calibri"/>
                <a:sym typeface="Calibri"/>
              </a:rPr>
              <a:t>Repeat sampling for many iterations — computationally expensive and slow to converge.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263640" y="1554480"/>
            <a:ext cx="5349240" cy="4663440"/>
          </a:xfrm>
          <a:prstGeom prst="roundRect">
            <a:avLst>
              <a:gd fmla="val 1961" name="adj"/>
            </a:avLst>
          </a:prstGeom>
          <a:solidFill>
            <a:srgbClr val="1339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DEEP BELIEF NETWORK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6583680" y="2331720"/>
            <a:ext cx="292608" cy="292608"/>
          </a:xfrm>
          <a:prstGeom prst="ellipse">
            <a:avLst/>
          </a:prstGeom>
          <a:solidFill>
            <a:srgbClr val="1C4C8C"/>
          </a:solidFill>
          <a:ln cap="flat" cmpd="sng" w="12700">
            <a:solidFill>
              <a:srgbClr val="3F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6583680" y="23317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7013448" y="2304288"/>
            <a:ext cx="4343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D6DCE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DCE8"/>
                </a:solidFill>
                <a:latin typeface="Calibri"/>
                <a:ea typeface="Calibri"/>
                <a:cs typeface="Calibri"/>
                <a:sym typeface="Calibri"/>
              </a:rPr>
              <a:t>Greedily pre-train one RBM layer at a time using Contrastive Divergence (CD-k) — fast, local approximation.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6583680" y="3246120"/>
            <a:ext cx="292608" cy="292608"/>
          </a:xfrm>
          <a:prstGeom prst="ellipse">
            <a:avLst/>
          </a:prstGeom>
          <a:solidFill>
            <a:srgbClr val="1C4C8C"/>
          </a:solidFill>
          <a:ln cap="flat" cmpd="sng" w="12700">
            <a:solidFill>
              <a:srgbClr val="3F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6583680" y="32461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7013448" y="3218688"/>
            <a:ext cx="4343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D6DCE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DCE8"/>
                </a:solidFill>
                <a:latin typeface="Calibri"/>
                <a:ea typeface="Calibri"/>
                <a:cs typeface="Calibri"/>
                <a:sym typeface="Calibri"/>
              </a:rPr>
              <a:t>Freeze the trained layer; treat its hidden activations as “data” to train the next RBM above it.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6583680" y="4160520"/>
            <a:ext cx="292608" cy="292608"/>
          </a:xfrm>
          <a:prstGeom prst="ellipse">
            <a:avLst/>
          </a:prstGeom>
          <a:solidFill>
            <a:srgbClr val="1C4C8C"/>
          </a:solidFill>
          <a:ln cap="flat" cmpd="sng" w="12700">
            <a:solidFill>
              <a:srgbClr val="3F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6583680" y="41605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7013448" y="4133088"/>
            <a:ext cx="4343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D6DCE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DCE8"/>
                </a:solidFill>
                <a:latin typeface="Calibri"/>
                <a:ea typeface="Calibri"/>
                <a:cs typeface="Calibri"/>
                <a:sym typeface="Calibri"/>
              </a:rPr>
              <a:t>Stack layers bottom-up, each capturing progressively more abstract features.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6583680" y="5074920"/>
            <a:ext cx="292608" cy="292608"/>
          </a:xfrm>
          <a:prstGeom prst="ellipse">
            <a:avLst/>
          </a:prstGeom>
          <a:solidFill>
            <a:srgbClr val="1C4C8C"/>
          </a:solidFill>
          <a:ln cap="flat" cmpd="sng" w="12700">
            <a:solidFill>
              <a:srgbClr val="3F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6583680" y="50749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7013448" y="5047488"/>
            <a:ext cx="4343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D6DCE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DCE8"/>
                </a:solidFill>
                <a:latin typeface="Calibri"/>
                <a:ea typeface="Calibri"/>
                <a:cs typeface="Calibri"/>
                <a:sym typeface="Calibri"/>
              </a:rPr>
              <a:t>Fine-tune the full stack end-to-end with backpropagation or the wake-sleep algorithm.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4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4A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SIDE BY SIDE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548640" y="6583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54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C2541"/>
                </a:solidFill>
                <a:latin typeface="Cambria"/>
                <a:ea typeface="Cambria"/>
                <a:cs typeface="Cambria"/>
                <a:sym typeface="Cambria"/>
              </a:rPr>
              <a:t>Feature-Learning Capabilities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548640" y="1600200"/>
            <a:ext cx="2651760" cy="658368"/>
          </a:xfrm>
          <a:prstGeom prst="rect">
            <a:avLst/>
          </a:prstGeom>
          <a:solidFill>
            <a:srgbClr val="21295C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713232" y="1600200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Aspect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200400" y="1600200"/>
            <a:ext cx="4206240" cy="658368"/>
          </a:xfrm>
          <a:prstGeom prst="rect">
            <a:avLst/>
          </a:prstGeom>
          <a:solidFill>
            <a:srgbClr val="21295C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3364992" y="1600200"/>
            <a:ext cx="3877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Boltzmann Machine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7406640" y="1600200"/>
            <a:ext cx="4206240" cy="658368"/>
          </a:xfrm>
          <a:prstGeom prst="rect">
            <a:avLst/>
          </a:prstGeom>
          <a:solidFill>
            <a:srgbClr val="21295C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7571232" y="1600200"/>
            <a:ext cx="3877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Belief Network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48640" y="2258568"/>
            <a:ext cx="2651760" cy="658368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713232" y="2258568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254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2541"/>
                </a:solidFill>
                <a:latin typeface="Calibri"/>
                <a:ea typeface="Calibri"/>
                <a:cs typeface="Calibri"/>
                <a:sym typeface="Calibri"/>
              </a:rPr>
              <a:t>Connectivity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3200400" y="2258568"/>
            <a:ext cx="4206240" cy="658368"/>
          </a:xfrm>
          <a:prstGeom prst="rect">
            <a:avLst/>
          </a:prstGeom>
          <a:solidFill>
            <a:srgbClr val="F6F8FA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3364992" y="2258568"/>
            <a:ext cx="3877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945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9456F"/>
                </a:solidFill>
                <a:latin typeface="Calibri"/>
                <a:ea typeface="Calibri"/>
                <a:cs typeface="Calibri"/>
                <a:sym typeface="Calibri"/>
              </a:rPr>
              <a:t>Fully connected (intra-layer links too)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7406640" y="2258568"/>
            <a:ext cx="4206240" cy="658368"/>
          </a:xfrm>
          <a:prstGeom prst="rect">
            <a:avLst/>
          </a:prstGeom>
          <a:solidFill>
            <a:srgbClr val="F6F8FA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7571232" y="2258568"/>
            <a:ext cx="3877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945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9456F"/>
                </a:solidFill>
                <a:latin typeface="Calibri"/>
                <a:ea typeface="Calibri"/>
                <a:cs typeface="Calibri"/>
                <a:sym typeface="Calibri"/>
              </a:rPr>
              <a:t>Layer-restricted, stacked RBMs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548640" y="2916936"/>
            <a:ext cx="2651760" cy="658368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713232" y="2916936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254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2541"/>
                </a:solidFill>
                <a:latin typeface="Calibri"/>
                <a:ea typeface="Calibri"/>
                <a:cs typeface="Calibri"/>
                <a:sym typeface="Calibri"/>
              </a:rPr>
              <a:t>Feature depth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3200400" y="2916936"/>
            <a:ext cx="420624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3364992" y="2916936"/>
            <a:ext cx="3877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945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9456F"/>
                </a:solidFill>
                <a:latin typeface="Calibri"/>
                <a:ea typeface="Calibri"/>
                <a:cs typeface="Calibri"/>
                <a:sym typeface="Calibri"/>
              </a:rPr>
              <a:t>Shallow — one global feature space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7406640" y="2916936"/>
            <a:ext cx="420624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7571232" y="2916936"/>
            <a:ext cx="3877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945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9456F"/>
                </a:solidFill>
                <a:latin typeface="Calibri"/>
                <a:ea typeface="Calibri"/>
                <a:cs typeface="Calibri"/>
                <a:sym typeface="Calibri"/>
              </a:rPr>
              <a:t>Deep, hierarchical — low-level to abstract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48640" y="3575304"/>
            <a:ext cx="2651760" cy="658368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713232" y="3575304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254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2541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3200400" y="3575304"/>
            <a:ext cx="4206240" cy="658368"/>
          </a:xfrm>
          <a:prstGeom prst="rect">
            <a:avLst/>
          </a:prstGeom>
          <a:solidFill>
            <a:srgbClr val="F6F8FA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3364992" y="3575304"/>
            <a:ext cx="3877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945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9456F"/>
                </a:solidFill>
                <a:latin typeface="Calibri"/>
                <a:ea typeface="Calibri"/>
                <a:cs typeface="Calibri"/>
                <a:sym typeface="Calibri"/>
              </a:rPr>
              <a:t>Poor — sampling cost grows sharply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7406640" y="3575304"/>
            <a:ext cx="4206240" cy="658368"/>
          </a:xfrm>
          <a:prstGeom prst="rect">
            <a:avLst/>
          </a:prstGeom>
          <a:solidFill>
            <a:srgbClr val="F6F8FA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7571232" y="3575304"/>
            <a:ext cx="3877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945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9456F"/>
                </a:solidFill>
                <a:latin typeface="Calibri"/>
                <a:ea typeface="Calibri"/>
                <a:cs typeface="Calibri"/>
                <a:sym typeface="Calibri"/>
              </a:rPr>
              <a:t>Good — greedy layer-wise pre-training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548640" y="4233672"/>
            <a:ext cx="2651760" cy="658368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713232" y="4233672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254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2541"/>
                </a:solidFill>
                <a:latin typeface="Calibri"/>
                <a:ea typeface="Calibri"/>
                <a:cs typeface="Calibri"/>
                <a:sym typeface="Calibri"/>
              </a:rPr>
              <a:t>Training speed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3200400" y="4233672"/>
            <a:ext cx="420624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3364992" y="4233672"/>
            <a:ext cx="3877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945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9456F"/>
                </a:solidFill>
                <a:latin typeface="Calibri"/>
                <a:ea typeface="Calibri"/>
                <a:cs typeface="Calibri"/>
                <a:sym typeface="Calibri"/>
              </a:rPr>
              <a:t>Slow, often intractable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7406640" y="4233672"/>
            <a:ext cx="420624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7571232" y="4233672"/>
            <a:ext cx="3877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945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9456F"/>
                </a:solidFill>
                <a:latin typeface="Calibri"/>
                <a:ea typeface="Calibri"/>
                <a:cs typeface="Calibri"/>
                <a:sym typeface="Calibri"/>
              </a:rPr>
              <a:t>Fast pre-training + efficient fine-tuning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548640" y="4892040"/>
            <a:ext cx="2651760" cy="658368"/>
          </a:xfrm>
          <a:prstGeom prst="rect">
            <a:avLst/>
          </a:prstGeom>
          <a:solidFill>
            <a:srgbClr val="EDF1F5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713232" y="4892040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254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2541"/>
                </a:solidFill>
                <a:latin typeface="Calibri"/>
                <a:ea typeface="Calibri"/>
                <a:cs typeface="Calibri"/>
                <a:sym typeface="Calibri"/>
              </a:rPr>
              <a:t>Typical role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3200400" y="4892040"/>
            <a:ext cx="4206240" cy="658368"/>
          </a:xfrm>
          <a:prstGeom prst="rect">
            <a:avLst/>
          </a:prstGeom>
          <a:solidFill>
            <a:srgbClr val="F6F8FA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3364992" y="4892040"/>
            <a:ext cx="3877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945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9456F"/>
                </a:solidFill>
                <a:latin typeface="Calibri"/>
                <a:ea typeface="Calibri"/>
                <a:cs typeface="Calibri"/>
                <a:sym typeface="Calibri"/>
              </a:rPr>
              <a:t>Theoretical foundation for energy models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7406640" y="4892040"/>
            <a:ext cx="4206240" cy="658368"/>
          </a:xfrm>
          <a:prstGeom prst="rect">
            <a:avLst/>
          </a:prstGeom>
          <a:solidFill>
            <a:srgbClr val="F6F8FA"/>
          </a:solidFill>
          <a:ln cap="flat" cmpd="sng" w="9525">
            <a:solidFill>
              <a:srgbClr val="E1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7571232" y="4892040"/>
            <a:ext cx="3877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9456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9456F"/>
                </a:solidFill>
                <a:latin typeface="Calibri"/>
                <a:ea typeface="Calibri"/>
                <a:cs typeface="Calibri"/>
                <a:sym typeface="Calibri"/>
              </a:rPr>
              <a:t>Practical feature extractor / classifier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C0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C0C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54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APPLIED IN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548640" y="6583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Real-World Application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548640" y="150876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C14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2C14E"/>
                </a:solidFill>
                <a:latin typeface="Calibri"/>
                <a:ea typeface="Calibri"/>
                <a:cs typeface="Calibri"/>
                <a:sym typeface="Calibri"/>
              </a:rPr>
              <a:t>Handwritten Digit Recognition (MNIST) &amp; Collaborative Filtering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548640" y="2148840"/>
            <a:ext cx="5303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D6DCE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DCE8"/>
                </a:solidFill>
                <a:latin typeface="Calibri"/>
                <a:ea typeface="Calibri"/>
                <a:cs typeface="Calibri"/>
                <a:sym typeface="Calibri"/>
              </a:rPr>
              <a:t>Deep Belief Networks pioneered unsupervised pre-training for deep learning: Hinton's 2006 DBN learned hierarchical features from raw pixels — edges, then strokes, then digit shapes — before fine-tuning achieved near state-of-the-art accuracy on MNIST digit classification.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548640" y="3520440"/>
            <a:ext cx="5303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D6DCE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DCE8"/>
                </a:solidFill>
                <a:latin typeface="Calibri"/>
                <a:ea typeface="Calibri"/>
                <a:cs typeface="Calibri"/>
                <a:sym typeface="Calibri"/>
              </a:rPr>
              <a:t>Restricted Boltzmann Machines, the DBN's building block, were famously used by Netflix Prize competitors as collaborative-filtering models — learning latent “taste” features from sparse user-movie rating matrices to power recommendation engines.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548640" y="5074920"/>
            <a:ext cx="5303520" cy="777240"/>
          </a:xfrm>
          <a:prstGeom prst="roundRect">
            <a:avLst>
              <a:gd fmla="val 9412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777240" y="5193792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Why it works:  </a:t>
            </a:r>
            <a:r>
              <a:rPr b="0" i="0" lang="en-US" sz="1100" u="none" cap="none" strike="noStrike">
                <a:solidFill>
                  <a:srgbClr val="D6DCE8"/>
                </a:solidFill>
                <a:latin typeface="Calibri"/>
                <a:ea typeface="Calibri"/>
                <a:cs typeface="Calibri"/>
                <a:sym typeface="Calibri"/>
              </a:rPr>
              <a:t>layer-wise pre-training gives the network a strong weight initialization, letting it learn abstract, reusable features before any labels are seen.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6492240" y="1417320"/>
            <a:ext cx="5029200" cy="868680"/>
          </a:xfrm>
          <a:prstGeom prst="roundRect">
            <a:avLst>
              <a:gd fmla="val 9474" name="adj"/>
            </a:avLst>
          </a:prstGeom>
          <a:solidFill>
            <a:srgbClr val="39456F"/>
          </a:solidFill>
          <a:ln>
            <a:noFill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6720840" y="152704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Input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6720840" y="189280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EFF5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EAEFF5"/>
                </a:solidFill>
                <a:latin typeface="Calibri"/>
                <a:ea typeface="Calibri"/>
                <a:cs typeface="Calibri"/>
                <a:sym typeface="Calibri"/>
              </a:rPr>
              <a:t>Pixel grid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 rot="10800000">
            <a:off x="8924544" y="2340864"/>
            <a:ext cx="164592" cy="182880"/>
          </a:xfrm>
          <a:prstGeom prst="triangle">
            <a:avLst>
              <a:gd fmla="val 50000" name="adj"/>
            </a:avLst>
          </a:prstGeom>
          <a:solidFill>
            <a:srgbClr val="889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6492240" y="2606040"/>
            <a:ext cx="5029200" cy="868680"/>
          </a:xfrm>
          <a:prstGeom prst="roundRect">
            <a:avLst>
              <a:gd fmla="val 9474" name="adj"/>
            </a:avLst>
          </a:prstGeom>
          <a:solidFill>
            <a:srgbClr val="1C7293"/>
          </a:solidFill>
          <a:ln>
            <a:noFill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6720840" y="271576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6720840" y="308152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EFF5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EAEFF5"/>
                </a:solidFill>
                <a:latin typeface="Calibri"/>
                <a:ea typeface="Calibri"/>
                <a:cs typeface="Calibri"/>
                <a:sym typeface="Calibri"/>
              </a:rPr>
              <a:t>Edges &amp; strokes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 rot="10800000">
            <a:off x="8924544" y="3529584"/>
            <a:ext cx="164592" cy="182880"/>
          </a:xfrm>
          <a:prstGeom prst="triangle">
            <a:avLst>
              <a:gd fmla="val 50000" name="adj"/>
            </a:avLst>
          </a:prstGeom>
          <a:solidFill>
            <a:srgbClr val="889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6492240" y="3794760"/>
            <a:ext cx="5029200" cy="868680"/>
          </a:xfrm>
          <a:prstGeom prst="roundRect">
            <a:avLst>
              <a:gd fmla="val 9474" name="adj"/>
            </a:avLst>
          </a:prstGeom>
          <a:solidFill>
            <a:srgbClr val="6FA8C9"/>
          </a:solidFill>
          <a:ln>
            <a:noFill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6720840" y="390448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6720840" y="427024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EFF5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EAEFF5"/>
                </a:solidFill>
                <a:latin typeface="Calibri"/>
                <a:ea typeface="Calibri"/>
                <a:cs typeface="Calibri"/>
                <a:sym typeface="Calibri"/>
              </a:rPr>
              <a:t>Digit parts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 rot="10800000">
            <a:off x="8924544" y="4718304"/>
            <a:ext cx="164592" cy="182880"/>
          </a:xfrm>
          <a:prstGeom prst="triangle">
            <a:avLst>
              <a:gd fmla="val 50000" name="adj"/>
            </a:avLst>
          </a:prstGeom>
          <a:solidFill>
            <a:srgbClr val="889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6492240" y="4983480"/>
            <a:ext cx="5029200" cy="868680"/>
          </a:xfrm>
          <a:prstGeom prst="roundRect">
            <a:avLst>
              <a:gd fmla="val 9474" name="adj"/>
            </a:avLst>
          </a:prstGeom>
          <a:solidFill>
            <a:srgbClr val="F2C14E"/>
          </a:solidFill>
          <a:ln>
            <a:noFill/>
          </a:ln>
          <a:effectLst>
            <a:outerShdw blurRad="635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6720840" y="509320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720840" y="54589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EFF5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EAEFF5"/>
                </a:solidFill>
                <a:latin typeface="Calibri"/>
                <a:ea typeface="Calibri"/>
                <a:cs typeface="Calibri"/>
                <a:sym typeface="Calibri"/>
              </a:rPr>
              <a:t>Digit identity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6492240" y="62179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4A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894A8"/>
                </a:solidFill>
                <a:latin typeface="Calibri"/>
                <a:ea typeface="Calibri"/>
                <a:cs typeface="Calibri"/>
                <a:sym typeface="Calibri"/>
              </a:rPr>
              <a:t>Layer-wise abstraction pipeline inside a trained DBN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4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4A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